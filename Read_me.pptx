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70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0666B-9466-4F76-A6B2-F1BC42A12907}" v="903" dt="2025-11-29T08:01:32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900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6034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7401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2349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923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07648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5929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6774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59238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5096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2459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91340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D3A296-BCD1-45BD-B0FD-D71DC011BC17}" type="datetimeFigureOut">
              <a:rPr lang="en-IN" smtClean="0"/>
              <a:pPr/>
              <a:t>29-11-2025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8C3AE3-69EF-432E-829A-E6E496655CF7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3632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4.png"/><Relationship Id="rId9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2.svg"/><Relationship Id="rId4" Type="http://schemas.openxmlformats.org/officeDocument/2006/relationships/image" Target="../media/image18.png"/><Relationship Id="rId9" Type="http://schemas.openxmlformats.org/officeDocument/2006/relationships/image" Target="../media/image2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E290B9-389D-5B9E-0B83-6E9E724A8F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Multi-objective optimization for crashworthiness design of vehicles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50E4A90-3F2F-6FA7-5448-323C6D894B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Project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4E07883-113F-6192-7828-6E4EA5339987}"/>
              </a:ext>
            </a:extLst>
          </p:cNvPr>
          <p:cNvSpPr txBox="1"/>
          <p:nvPr/>
        </p:nvSpPr>
        <p:spPr>
          <a:xfrm>
            <a:off x="7636942" y="5506972"/>
            <a:ext cx="3412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 Banderwaar Akshay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</a:p>
        </p:txBody>
      </p:sp>
      <p:pic>
        <p:nvPicPr>
          <p:cNvPr id="19458" name="Picture 2" descr="D:\end sem BTP\BTech_report_template_latex\images\iitgoa_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96576" y="5147584"/>
            <a:ext cx="1151616" cy="11516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937042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8A398B-C8F7-C0BB-A498-6BBCA10B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Optimization 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A81DAF-A18B-F7F0-3240-F23FE4161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>
                <a:solidFill>
                  <a:schemeClr val="tx1"/>
                </a:solidFill>
              </a:rPr>
              <a:t>The goal of this project is to</a:t>
            </a:r>
            <a:r>
              <a:rPr lang="en-IN" b="1" dirty="0">
                <a:solidFill>
                  <a:schemeClr val="tx1"/>
                </a:solidFill>
              </a:rPr>
              <a:t> design the thickness of five reinforced members </a:t>
            </a:r>
            <a:r>
              <a:rPr lang="en-IN" dirty="0">
                <a:solidFill>
                  <a:schemeClr val="tx1"/>
                </a:solidFill>
              </a:rPr>
              <a:t>around the frontal structure of a vehicle, taking into account (1) the overall weight of the vehicle, (2) toe board intrusion and (3) acceleration-induced biomechanical damage of occupants in a frontal crash. 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272F12-7B9C-ED0A-0DA5-9A27B8DA4F5A}"/>
                  </a:ext>
                </a:extLst>
              </p:cNvPr>
              <p:cNvSpPr txBox="1"/>
              <p:nvPr/>
            </p:nvSpPr>
            <p:spPr>
              <a:xfrm>
                <a:off x="2939531" y="3560770"/>
                <a:ext cx="2480936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IN" dirty="0"/>
                  <a:t/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),</m:t>
                        </m:r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1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d>
                  </m:oMath>
                </a14:m>
                <a:endParaRPr lang="en-IN" dirty="0"/>
              </a:p>
              <a:p>
                <a:pPr algn="ctr"/>
                <a:endParaRPr lang="en-IN" dirty="0"/>
              </a:p>
              <a:p>
                <a:pPr algn="ctr"/>
                <a:r>
                  <a:rPr lang="en-IN" dirty="0"/>
                  <a:t>such that:</a:t>
                </a:r>
              </a:p>
              <a:p>
                <a:pPr algn="ctr"/>
                <a:endParaRPr lang="en-I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dirty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IN" dirty="0">
                          <a:latin typeface="Cambria Math" panose="02040503050406030204" pitchFamily="18" charset="0"/>
                        </a:rPr>
                        <m:t>≤5 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dirty="0"/>
              </a:p>
              <a:p>
                <a:pPr algn="ctr"/>
                <a:endParaRPr lang="en-I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1 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mm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≤3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mm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6272F12-7B9C-ED0A-0DA5-9A27B8DA4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531" y="3560770"/>
                <a:ext cx="2480936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D7C7D58-9817-75A1-7B38-A510B8A14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620" y="3493274"/>
            <a:ext cx="4155855" cy="225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30301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6EA61E-409B-EF5E-44C4-0939DCBF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Proposed combination’s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E1FAFF-CF08-FA60-A453-51BDAB22D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GP Model + Constrained Expected Improvement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GP Model + Constrained Probability of Improvement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GP Model + Probability of Improvement + One pass Penalty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GP Model + Expected Improvement + General Exterior Penalty (with adaptive weight sampling)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(GP Model + RBF + Decision Tree) + </a:t>
            </a:r>
            <a:r>
              <a:rPr lang="en-US" dirty="0">
                <a:solidFill>
                  <a:schemeClr val="tx1"/>
                </a:solidFill>
              </a:rPr>
              <a:t>Constrained Expected Improvement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78608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D164D4-6CF0-D514-6070-04D02FA5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General procedure </a:t>
            </a:r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D2801-90FC-F62F-CC88-7DC31AE3A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60366"/>
                <a:ext cx="10058400" cy="402336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IN" sz="1800" b="1" dirty="0">
                    <a:solidFill>
                      <a:schemeClr val="tx1"/>
                    </a:solidFill>
                  </a:rPr>
                  <a:t>Step 1.</a:t>
                </a:r>
                <a:r>
                  <a:rPr lang="en-IN" sz="1800" dirty="0">
                    <a:solidFill>
                      <a:schemeClr val="tx1"/>
                    </a:solidFill>
                  </a:rPr>
                  <a:t> Pre-processing (normalize design variables; dimensionality reduction by the Morris method)</a:t>
                </a:r>
              </a:p>
              <a:p>
                <a:r>
                  <a:rPr lang="en-IN" sz="1800" b="1" dirty="0">
                    <a:solidFill>
                      <a:schemeClr val="tx1"/>
                    </a:solidFill>
                  </a:rPr>
                  <a:t>Step 2.</a:t>
                </a:r>
                <a:r>
                  <a:rPr lang="en-IN" sz="1800" dirty="0">
                    <a:solidFill>
                      <a:schemeClr val="tx1"/>
                    </a:solidFill>
                  </a:rPr>
                  <a:t> Sample </a:t>
                </a:r>
                <a14:m>
                  <m:oMath xmlns:m="http://schemas.openxmlformats.org/officeDocument/2006/math">
                    <m:r>
                      <a:rPr lang="en-I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 initial solution candidates via LHS design</a:t>
                </a:r>
              </a:p>
              <a:p>
                <a:r>
                  <a:rPr lang="en-IN" sz="1800" b="1" dirty="0">
                    <a:solidFill>
                      <a:schemeClr val="tx1"/>
                    </a:solidFill>
                  </a:rPr>
                  <a:t>Step 3. </a:t>
                </a:r>
                <a:r>
                  <a:rPr lang="en-IN" sz="1800" dirty="0">
                    <a:solidFill>
                      <a:schemeClr val="tx1"/>
                    </a:solidFill>
                  </a:rPr>
                  <a:t>Evaluate solutions using the expensive objective functions to form training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I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1800" dirty="0">
                  <a:solidFill>
                    <a:schemeClr val="tx1"/>
                  </a:solidFill>
                </a:endParaRPr>
              </a:p>
              <a:p>
                <a:r>
                  <a:rPr lang="en-IN" sz="1800" b="1" dirty="0">
                    <a:solidFill>
                      <a:schemeClr val="tx1"/>
                    </a:solidFill>
                  </a:rPr>
                  <a:t>Step 4. </a:t>
                </a:r>
                <a:r>
                  <a:rPr lang="en-IN" sz="1800" dirty="0">
                    <a:solidFill>
                      <a:schemeClr val="tx1"/>
                    </a:solidFill>
                  </a:rPr>
                  <a:t>Randomly pick subproblem (weights </a:t>
                </a:r>
                <a14:m>
                  <m:oMath xmlns:m="http://schemas.openxmlformats.org/officeDocument/2006/math">
                    <m:r>
                      <a:rPr lang="en-I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) and form aggregated dataset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𝑎𝑔𝑔</m:t>
                            </m:r>
                          </m:sub>
                        </m:sSub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Sup>
                                  <m:sSubSupPr>
                                    <m:ctrlP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IN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Sup>
                                  <m:sSubSupPr>
                                    <m:ctrlP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  <m:sub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endParaRPr lang="en-IN" sz="1800" dirty="0">
                  <a:solidFill>
                    <a:schemeClr val="tx1"/>
                  </a:solidFill>
                </a:endParaRPr>
              </a:p>
              <a:p>
                <a:r>
                  <a:rPr lang="en-IN" sz="1800" b="1" dirty="0">
                    <a:solidFill>
                      <a:schemeClr val="tx1"/>
                    </a:solidFill>
                  </a:rPr>
                  <a:t>Step 5. </a:t>
                </a:r>
                <a:r>
                  <a:rPr lang="en-IN" sz="1800" dirty="0">
                    <a:solidFill>
                      <a:srgbClr val="FF0000"/>
                    </a:solidFill>
                  </a:rPr>
                  <a:t>Train a surrogate model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𝑎𝑔𝑔</m:t>
                        </m:r>
                      </m:sub>
                    </m:sSub>
                  </m:oMath>
                </a14:m>
                <a:endParaRPr lang="en-IN" sz="1800" dirty="0">
                  <a:solidFill>
                    <a:schemeClr val="tx1"/>
                  </a:solidFill>
                </a:endParaRPr>
              </a:p>
              <a:p>
                <a:r>
                  <a:rPr lang="en-IN" sz="1800" b="1" dirty="0">
                    <a:solidFill>
                      <a:schemeClr val="tx1"/>
                    </a:solidFill>
                  </a:rPr>
                  <a:t>Step 6. </a:t>
                </a:r>
                <a:r>
                  <a:rPr lang="en-IN" sz="1800" dirty="0">
                    <a:solidFill>
                      <a:srgbClr val="FF0000"/>
                    </a:solidFill>
                  </a:rPr>
                  <a:t>Use the surrogate model to get a new infill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IN" sz="1800" dirty="0">
                    <a:solidFill>
                      <a:srgbClr val="FF0000"/>
                    </a:solidFill>
                  </a:rPr>
                  <a:t> corresponding to the selected single-objective subproblem</a:t>
                </a:r>
              </a:p>
              <a:p>
                <a:r>
                  <a:rPr lang="en-IN" sz="1800" b="1" dirty="0">
                    <a:solidFill>
                      <a:schemeClr val="tx1"/>
                    </a:solidFill>
                  </a:rPr>
                  <a:t>Step 7. </a:t>
                </a:r>
                <a:r>
                  <a:rPr lang="en-IN" sz="1800" dirty="0">
                    <a:solidFill>
                      <a:schemeClr val="tx1"/>
                    </a:solidFill>
                  </a:rPr>
                  <a:t>Evaluate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 to get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sub>
                            </m:sSub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 and append to the training dataset: </a:t>
                </a:r>
                <a14:m>
                  <m:oMath xmlns:m="http://schemas.openxmlformats.org/officeDocument/2006/math">
                    <m:r>
                      <a:rPr lang="en-I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I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b>
                        </m:sSub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IN" sz="1800" dirty="0">
                  <a:solidFill>
                    <a:schemeClr val="tx1"/>
                  </a:solidFill>
                </a:endParaRPr>
              </a:p>
              <a:p>
                <a:r>
                  <a:rPr lang="en-IN" sz="1800" b="1" dirty="0">
                    <a:solidFill>
                      <a:schemeClr val="tx1"/>
                    </a:solidFill>
                  </a:rPr>
                  <a:t>Step 8.</a:t>
                </a:r>
                <a:r>
                  <a:rPr lang="en-IN" sz="1800" dirty="0">
                    <a:solidFill>
                      <a:schemeClr val="tx1"/>
                    </a:solidFill>
                  </a:rPr>
                  <a:t> Return to Step 4 if solution evaluation budget not exhausted</a:t>
                </a:r>
              </a:p>
              <a:p>
                <a:r>
                  <a:rPr lang="en-IN" sz="1800" b="1" dirty="0">
                    <a:solidFill>
                      <a:schemeClr val="tx1"/>
                    </a:solidFill>
                  </a:rPr>
                  <a:t>Step 9.</a:t>
                </a:r>
                <a:r>
                  <a:rPr lang="en-IN" sz="1800" dirty="0">
                    <a:solidFill>
                      <a:schemeClr val="tx1"/>
                    </a:solidFill>
                  </a:rPr>
                  <a:t> Return the set of nondominated solutions found in </a:t>
                </a:r>
                <a14:m>
                  <m:oMath xmlns:m="http://schemas.openxmlformats.org/officeDocument/2006/math">
                    <m:r>
                      <a:rPr lang="en-I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IN" sz="1800" dirty="0">
                  <a:solidFill>
                    <a:schemeClr val="tx1"/>
                  </a:solidFill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5BD2801-90FC-F62F-CC88-7DC31AE3A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60366"/>
                <a:ext cx="10058400" cy="4023360"/>
              </a:xfrm>
              <a:blipFill>
                <a:blip r:embed="rId2"/>
                <a:stretch>
                  <a:fillRect l="-242" t="-12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554606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F2DB59-2167-DFD0-99E1-BADE14F31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Weight sampling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44309-DCAC-D102-45C4-4E23708460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</a:rPr>
                  <a:t>Random sampling from [0,1]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Generate weights evenly spaced between 0 and 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 </a:t>
                </a:r>
                <a:r>
                  <a:rPr lang="en-US" dirty="0" err="1">
                    <a:solidFill>
                      <a:schemeClr val="tx1"/>
                    </a:solidFill>
                  </a:rPr>
                  <a:t>linspace</a:t>
                </a:r>
                <a:r>
                  <a:rPr lang="en-US" dirty="0">
                    <a:solidFill>
                      <a:schemeClr val="tx1"/>
                    </a:solidFill>
                  </a:rPr>
                  <a:t>(0,1,N)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1-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Adaptive weight sampling (based on gap angles)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C544309-DCAC-D102-45C4-4E2370846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502151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F89A9D-8C7F-5E5F-8507-354AB970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Adaptive weight Sampling- (</a:t>
            </a:r>
            <a:r>
              <a:rPr lang="en-IN" dirty="0">
                <a:solidFill>
                  <a:schemeClr val="tx1"/>
                </a:solidFill>
              </a:rPr>
              <a:t>Angle-Based Gap Detection)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9824AA-5F3D-2C75-C674-40201A9184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In bi-objective space, every normalized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​ 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​,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​ ​) corresponds to the direction.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Convert each point to an angle: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I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I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,  </m:t>
                      </m:r>
                      <m:sSub>
                        <m:sSubPr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lit/>
                            </m:rP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</a:rPr>
                  <a:t>Add boundary angles 0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,90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IN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</a:rPr>
                  <a:t>Find the largest angular gap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I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I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I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IN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IN" i="1" dirty="0" err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IN" dirty="0">
                  <a:solidFill>
                    <a:schemeClr val="tx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</a:t>
                </a:r>
                <a:r>
                  <a:rPr lang="en-US" b="1" dirty="0">
                    <a:solidFill>
                      <a:schemeClr val="tx1"/>
                    </a:solidFill>
                  </a:rPr>
                  <a:t>midpoint</a:t>
                </a:r>
                <a:r>
                  <a:rPr lang="en-US" dirty="0">
                    <a:solidFill>
                      <a:schemeClr val="tx1"/>
                    </a:solidFill>
                  </a:rPr>
                  <a:t> of this empty interval gives the </a:t>
                </a:r>
                <a:r>
                  <a:rPr lang="en-US" b="1" dirty="0">
                    <a:solidFill>
                      <a:schemeClr val="tx1"/>
                    </a:solidFill>
                  </a:rPr>
                  <a:t>least explored search direction.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39824AA-5F3D-2C75-C674-40201A9184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026351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E8454C-238C-941F-E2E7-6D6E2BA8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Deriving Weight</a:t>
            </a:r>
            <a:r>
              <a:rPr lang="en-IN" i="1" dirty="0">
                <a:solidFill>
                  <a:schemeClr val="tx1"/>
                </a:solidFill>
              </a:rPr>
              <a:t> w </a:t>
            </a:r>
            <a:r>
              <a:rPr lang="en-IN" dirty="0">
                <a:solidFill>
                  <a:schemeClr val="tx1"/>
                </a:solidFill>
              </a:rPr>
              <a:t>From Desired angle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3E386E-F5DF-CD7A-0967-1B6CE4EB32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704" y="1845733"/>
                <a:ext cx="10058400" cy="402336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Relating Angle to Weighted Sum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pl-PL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pl-PL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sSub>
                        <m:sSubPr>
                          <m:ctrlP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sSub>
                        <m:sSubPr>
                          <m:ctrlP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Since the line corresponding to the midpoint angle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satisfies the objective function, its slope is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pl-P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. </a:t>
                </a:r>
                <a:r>
                  <a:rPr lang="en-US" dirty="0">
                    <a:solidFill>
                      <a:schemeClr val="tx1"/>
                    </a:solidFill>
                  </a:rPr>
                  <a:t>The slope corresponding to the average angle is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dirty="0">
                        <a:solidFill>
                          <a:schemeClr val="tx1"/>
                        </a:solidFill>
                      </a:rPr>
                      <m:t>tan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and we know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l-PL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= -1.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IN" dirty="0">
                  <a:solidFill>
                    <a:schemeClr val="tx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</a:rPr>
                  <a:t>After solving, we obtain: </a:t>
                </a:r>
              </a:p>
              <a:p>
                <a:endParaRPr lang="en-IN" dirty="0">
                  <a:solidFill>
                    <a:schemeClr val="tx1"/>
                  </a:solidFill>
                </a:endParaRP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C3E386E-F5DF-CD7A-0967-1B6CE4EB32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704" y="1845733"/>
                <a:ext cx="10058400" cy="4023360"/>
              </a:xfrm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CE53FD-66EB-7CD0-DA14-D077A515140F}"/>
                  </a:ext>
                </a:extLst>
              </p:cNvPr>
              <p:cNvSpPr txBox="1"/>
              <p:nvPr/>
            </p:nvSpPr>
            <p:spPr>
              <a:xfrm>
                <a:off x="3952567" y="4457181"/>
                <a:ext cx="1980992" cy="619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BCE53FD-66EB-7CD0-DA14-D077A5151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567" y="4457181"/>
                <a:ext cx="1980992" cy="6196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25090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1FFA9CD-7278-E149-8D04-A4AB7E696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15739" y="3078419"/>
            <a:ext cx="4895850" cy="3257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FBD299-095A-440C-16F9-F578AE79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Limitations and improvements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10364C-D039-C14B-C0AD-58DA17313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Due to it’s simplicity, it is too sensitive to outliers.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small  improvement to this naïve method is that we mark the dominated arc with respect to an ideal point outside the region, so we do not consider those point. (</a:t>
            </a:r>
            <a:r>
              <a:rPr lang="en-US" sz="1800" dirty="0">
                <a:solidFill>
                  <a:srgbClr val="FF0000"/>
                </a:solidFill>
              </a:rPr>
              <a:t>introduces hyperparameter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we train model using random Weights until some fixed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number of iterations so that by that time we get a good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approx. pareto optimal points then we adopt adaptive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sampling using these pareto points.</a:t>
            </a: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96229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3BA23B-0960-4839-6E14-C6E728FB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GP Model + Constrained Expected Improvement (Algo-1)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AB245C-9521-27B2-A838-3B95EF58A9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505905"/>
              </a:xfrm>
            </p:spPr>
            <p:txBody>
              <a:bodyPr>
                <a:normAutofit/>
              </a:bodyPr>
              <a:lstStyle/>
              <a:p>
                <a:r>
                  <a:rPr lang="en-IN" sz="1800" b="1" dirty="0">
                    <a:solidFill>
                      <a:srgbClr val="FF0000"/>
                    </a:solidFill>
                  </a:rPr>
                  <a:t>Methodology:</a:t>
                </a:r>
              </a:p>
              <a:p>
                <a:r>
                  <a:rPr lang="en-IN" sz="1800" b="1" dirty="0">
                    <a:solidFill>
                      <a:schemeClr val="tx1"/>
                    </a:solidFill>
                  </a:rPr>
                  <a:t>1. Initial Sampling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dirty="0">
                    <a:solidFill>
                      <a:schemeClr val="tx1"/>
                    </a:solidFill>
                  </a:rPr>
                  <a:t>Generate m = 11</a:t>
                </a:r>
                <a:r>
                  <a:rPr lang="en-IN" sz="1800" i="1" dirty="0">
                    <a:solidFill>
                      <a:schemeClr val="tx1"/>
                    </a:solidFill>
                  </a:rPr>
                  <a:t>d </a:t>
                </a:r>
                <a:r>
                  <a:rPr lang="en-IN" sz="1800" dirty="0">
                    <a:solidFill>
                      <a:schemeClr val="tx1"/>
                    </a:solidFill>
                  </a:rPr>
                  <a:t>- 1 points using maximin LHS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[1,3]</m:t>
                        </m:r>
                      </m:e>
                      <m:sup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IN" sz="1800" dirty="0">
                  <a:solidFill>
                    <a:schemeClr val="tx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dirty="0">
                    <a:solidFill>
                      <a:schemeClr val="tx1"/>
                    </a:solidFill>
                  </a:rPr>
                  <a:t>Get the objective function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800" i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1800" i="1" dirty="0">
                    <a:solidFill>
                      <a:schemeClr val="tx1"/>
                    </a:solidFill>
                  </a:rPr>
                  <a:t/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dirty="0">
                    <a:solidFill>
                      <a:schemeClr val="tx1"/>
                    </a:solidFill>
                  </a:rPr>
                  <a:t>Define constraint as </a:t>
                </a:r>
                <a:r>
                  <a:rPr lang="en-IN" sz="1800" i="1" dirty="0">
                    <a:solidFill>
                      <a:schemeClr val="tx1"/>
                    </a:solidFill>
                  </a:rPr>
                  <a:t>g</a:t>
                </a:r>
                <a:r>
                  <a:rPr lang="en-IN" sz="1800" dirty="0">
                    <a:solidFill>
                      <a:schemeClr val="tx1"/>
                    </a:solidFill>
                  </a:rPr>
                  <a:t>(</a:t>
                </a:r>
                <a:r>
                  <a:rPr lang="en-IN" sz="1800" i="1" dirty="0">
                    <a:solidFill>
                      <a:schemeClr val="tx1"/>
                    </a:solidFill>
                  </a:rPr>
                  <a:t>x</a:t>
                </a:r>
                <a:r>
                  <a:rPr lang="en-IN" sz="1800" dirty="0">
                    <a:solidFill>
                      <a:schemeClr val="tx1"/>
                    </a:solidFill>
                  </a:rPr>
                  <a:t>) = 5 -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1800" i="1" dirty="0">
                    <a:solidFill>
                      <a:schemeClr val="tx1"/>
                    </a:solidFill>
                  </a:rPr>
                  <a:t>(x</a:t>
                </a:r>
                <a:r>
                  <a:rPr lang="en-IN" sz="1800" dirty="0">
                    <a:solidFill>
                      <a:schemeClr val="tx1"/>
                    </a:solidFill>
                  </a:rPr>
                  <a:t>). ( such that </a:t>
                </a:r>
                <a:r>
                  <a:rPr lang="en-IN" sz="1800" i="1" dirty="0">
                    <a:solidFill>
                      <a:schemeClr val="tx1"/>
                    </a:solidFill>
                  </a:rPr>
                  <a:t>g</a:t>
                </a:r>
                <a:r>
                  <a:rPr lang="en-IN" sz="1800" dirty="0">
                    <a:solidFill>
                      <a:schemeClr val="tx1"/>
                    </a:solidFill>
                  </a:rPr>
                  <a:t>(</a:t>
                </a:r>
                <a:r>
                  <a:rPr lang="en-IN" sz="1800" i="1" dirty="0">
                    <a:solidFill>
                      <a:schemeClr val="tx1"/>
                    </a:solidFill>
                  </a:rPr>
                  <a:t>x</a:t>
                </a:r>
                <a:r>
                  <a:rPr lang="en-IN" sz="1800" dirty="0">
                    <a:solidFill>
                      <a:schemeClr val="tx1"/>
                    </a:solidFill>
                  </a:rPr>
                  <a:t>) &gt;=0)</a:t>
                </a:r>
              </a:p>
              <a:p>
                <a:pPr marL="0" indent="0">
                  <a:buNone/>
                </a:pPr>
                <a:r>
                  <a:rPr lang="en-IN" sz="1800" b="1" dirty="0">
                    <a:solidFill>
                      <a:schemeClr val="tx1"/>
                    </a:solidFill>
                  </a:rPr>
                  <a:t>2. Surrogate models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dirty="0">
                    <a:solidFill>
                      <a:schemeClr val="tx1"/>
                    </a:solidFill>
                  </a:rPr>
                  <a:t>Constraint GP (always trained on full dataset)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</a:rPr>
                  <a:t>Train GP on  </a:t>
                </a:r>
                <a:r>
                  <a:rPr lang="en-IN" i="1" dirty="0">
                    <a:solidFill>
                      <a:schemeClr val="tx1"/>
                    </a:solidFill>
                  </a:rPr>
                  <a:t>g</a:t>
                </a:r>
                <a:r>
                  <a:rPr lang="en-IN" dirty="0">
                    <a:solidFill>
                      <a:schemeClr val="tx1"/>
                    </a:solidFill>
                  </a:rPr>
                  <a:t>(</a:t>
                </a:r>
                <a:r>
                  <a:rPr lang="en-IN" i="1" dirty="0">
                    <a:solidFill>
                      <a:schemeClr val="tx1"/>
                    </a:solidFill>
                  </a:rPr>
                  <a:t>x</a:t>
                </a:r>
                <a:r>
                  <a:rPr lang="en-IN" dirty="0">
                    <a:solidFill>
                      <a:schemeClr val="tx1"/>
                    </a:solidFill>
                  </a:rPr>
                  <a:t>) 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dirty="0">
                    <a:solidFill>
                      <a:schemeClr val="tx1"/>
                    </a:solidFill>
                  </a:rPr>
                  <a:t>Objective GP (feasible or full dataset )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</a:rPr>
                  <a:t>Normalize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to [0,1] using Minimax and define single objective: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 = 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>+ (1-w)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</a:rPr>
                  <a:t/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</a:rPr>
                  <a:t>Train GP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endParaRPr lang="en-IN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endParaRPr lang="en-IN" b="1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0AB245C-9521-27B2-A838-3B95EF58A9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505905"/>
              </a:xfrm>
              <a:blipFill>
                <a:blip r:embed="rId2"/>
                <a:stretch>
                  <a:fillRect l="-1394" t="-1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08275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E26F95-C591-B7EE-1461-318C36AB0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1800" b="1" dirty="0">
                    <a:solidFill>
                      <a:schemeClr val="tx1"/>
                    </a:solidFill>
                  </a:rPr>
                  <a:t>3</a:t>
                </a:r>
                <a:r>
                  <a:rPr lang="en-IN" sz="1800" dirty="0">
                    <a:solidFill>
                      <a:schemeClr val="tx1"/>
                    </a:solidFill>
                  </a:rPr>
                  <a:t>. </a:t>
                </a:r>
                <a:r>
                  <a:rPr lang="en-IN" sz="1800" b="1" dirty="0">
                    <a:solidFill>
                      <a:schemeClr val="tx1"/>
                    </a:solidFill>
                  </a:rPr>
                  <a:t>Acquisition Function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dirty="0">
                    <a:solidFill>
                      <a:schemeClr val="tx1"/>
                    </a:solidFill>
                  </a:rPr>
                  <a:t>if no feasible point available then we maximize the probability of feasibility </a:t>
                </a:r>
                <a:r>
                  <a:rPr lang="en-IN" sz="1800" i="1" dirty="0">
                    <a:solidFill>
                      <a:schemeClr val="tx1"/>
                    </a:solidFill>
                  </a:rPr>
                  <a:t>P(g&gt;=0</a:t>
                </a:r>
                <a:r>
                  <a:rPr lang="en-IN" sz="1800" dirty="0">
                    <a:solidFill>
                      <a:schemeClr val="tx1"/>
                    </a:solidFill>
                  </a:rPr>
                  <a:t>)=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dirty="0">
                    <a:solidFill>
                      <a:schemeClr val="tx1"/>
                    </a:solidFill>
                  </a:rPr>
                  <a:t>Else maximize Constraint Expected Improvement (</a:t>
                </a:r>
                <a:r>
                  <a:rPr lang="en-IN" sz="1800" dirty="0" err="1">
                    <a:solidFill>
                      <a:schemeClr val="tx1"/>
                    </a:solidFill>
                  </a:rPr>
                  <a:t>cEI</a:t>
                </a:r>
                <a:r>
                  <a:rPr lang="en-IN" sz="1800" dirty="0">
                    <a:solidFill>
                      <a:schemeClr val="tx1"/>
                    </a:solidFill>
                  </a:rPr>
                  <a:t>)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dirty="0" err="1">
                    <a:solidFill>
                      <a:schemeClr val="tx1"/>
                    </a:solidFill>
                  </a:rPr>
                  <a:t>cEI</a:t>
                </a:r>
                <a:r>
                  <a:rPr lang="en-IN" dirty="0">
                    <a:solidFill>
                      <a:schemeClr val="tx1"/>
                    </a:solidFill>
                  </a:rPr>
                  <a:t>(x) = EI(x).</a:t>
                </a:r>
                <a:r>
                  <a:rPr lang="en-IN" i="1" dirty="0">
                    <a:solidFill>
                      <a:schemeClr val="tx1"/>
                    </a:solidFill>
                  </a:rPr>
                  <a:t> P</a:t>
                </a:r>
                <a:r>
                  <a:rPr lang="en-IN" dirty="0">
                    <a:solidFill>
                      <a:schemeClr val="tx1"/>
                    </a:solidFill>
                  </a:rPr>
                  <a:t>(</a:t>
                </a:r>
                <a:r>
                  <a:rPr lang="en-IN" i="1" dirty="0">
                    <a:solidFill>
                      <a:schemeClr val="tx1"/>
                    </a:solidFill>
                  </a:rPr>
                  <a:t>g(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i="1" dirty="0">
                    <a:solidFill>
                      <a:schemeClr val="tx1"/>
                    </a:solidFill>
                  </a:rPr>
                  <a:t>) &gt;= 0</a:t>
                </a:r>
                <a:r>
                  <a:rPr lang="en-IN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IN" sz="1800" b="1" dirty="0">
                    <a:solidFill>
                      <a:schemeClr val="tx1"/>
                    </a:solidFill>
                  </a:rPr>
                  <a:t>4. Acquisition Optimization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dirty="0">
                    <a:solidFill>
                      <a:schemeClr val="tx1"/>
                    </a:solidFill>
                  </a:rPr>
                  <a:t>Use Simulated Annealing to maximize acquisition and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endParaRPr lang="en-IN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IN" sz="1800" b="1" dirty="0">
                    <a:solidFill>
                      <a:schemeClr val="tx1"/>
                    </a:solidFill>
                  </a:rPr>
                  <a:t>5. Sequential Update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dirty="0">
                    <a:solidFill>
                      <a:schemeClr val="tx1"/>
                    </a:solidFill>
                  </a:rPr>
                  <a:t>Evaluate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lang="en-IN" sz="1800" dirty="0">
                    <a:solidFill>
                      <a:schemeClr val="tx1"/>
                    </a:solidFill>
                  </a:rPr>
                  <a:t> and push it in dataset and repat whole process again until u exhaust total budget.</a:t>
                </a:r>
              </a:p>
              <a:p>
                <a:pPr marL="0" indent="0">
                  <a:buNone/>
                </a:pPr>
                <a:endParaRPr lang="en-IN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BE26F95-C591-B7EE-1461-318C36AB0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4" t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987983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6C517C-4A39-5BBC-7F45-F8D23C13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GP Model + Constrained Probability of Improvement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7C163F-10C2-7B9A-3079-FE27F4805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Same Framework as Algorithm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LHS sampling to generate initial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Objective and constraint GP surrogate construction.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FF0000"/>
                </a:solidFill>
              </a:rPr>
              <a:t>Acquisition optimization using Probability of Improvement (PI) × feasibility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Optimization via Simulated Annealing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Sequential updates for 200 total evaluations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428197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A8E9D1-6E8E-1BA0-5A6A-1C4FF5BFA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GP Model + Probability of Improvement + One pass Penalty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75DD07-0BF8-B76D-B0A7-955DB890D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/>
              <a:t>Same Framework as Algorithm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LHS sampling to generate initial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Objective and constraint GP surrogate construction.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FF0000"/>
                </a:solidFill>
              </a:rPr>
              <a:t>Acquisition optimization using Probability of Improvement (PI) × feasibility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Optimization via Simulated Annealing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Sequential updates for 200 total evaluations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44935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35EB11-489C-6CBC-369E-7C75656B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GP Model + Expected Improvement + General Exterior Penalty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26F7CA-5C32-DDF3-9AD9-863C2C4CD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/>
              <a:t>Same Framework as Algorithm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LHS sampling to generate initial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Objective and constraint GP surrogate construction.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FF0000"/>
                </a:solidFill>
              </a:rPr>
              <a:t>Acquisition optimization using expected Improvement (infill </a:t>
            </a:r>
            <a:r>
              <a:rPr lang="en-IN" sz="1800" dirty="0" err="1">
                <a:solidFill>
                  <a:srgbClr val="FF0000"/>
                </a:solidFill>
              </a:rPr>
              <a:t>criterian</a:t>
            </a:r>
            <a:r>
              <a:rPr lang="en-IN" sz="1800" dirty="0">
                <a:solidFill>
                  <a:srgbClr val="FF0000"/>
                </a:solidFill>
              </a:rPr>
              <a:t>) and (constraint handling) </a:t>
            </a:r>
            <a:r>
              <a:rPr lang="en-US" sz="1800" dirty="0">
                <a:solidFill>
                  <a:srgbClr val="FF0000"/>
                </a:solidFill>
              </a:rPr>
              <a:t>General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IN" sz="1800" dirty="0">
                <a:solidFill>
                  <a:srgbClr val="FF0000"/>
                </a:solidFill>
              </a:rPr>
              <a:t>exterior penalty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Optimization via Simulated Annealing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Sequential updates for 200 total evaluations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97382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E1DD57-42FE-6E3E-0FE0-3C64591C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(GP Model + RBF + Decision Tree) + </a:t>
            </a:r>
            <a:r>
              <a:rPr lang="en-US" dirty="0">
                <a:solidFill>
                  <a:schemeClr val="tx1"/>
                </a:solidFill>
              </a:rPr>
              <a:t>Constrained Expected Improvement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75017B-267C-9969-5CE5-E56793F57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/>
              <a:t>Same Framework as Algorithm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LHS sampling to generate initial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FF0000"/>
                </a:solidFill>
              </a:rPr>
              <a:t>Objective and constraint GP , RBF , Decision Tree surrogate construction.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FF0000"/>
                </a:solidFill>
              </a:rPr>
              <a:t>Acquisition optimization using Probability of Improvement (infill </a:t>
            </a:r>
            <a:r>
              <a:rPr lang="en-IN" sz="1800" dirty="0" err="1">
                <a:solidFill>
                  <a:srgbClr val="FF0000"/>
                </a:solidFill>
              </a:rPr>
              <a:t>criterian</a:t>
            </a:r>
            <a:r>
              <a:rPr lang="en-IN" sz="1800" dirty="0">
                <a:solidFill>
                  <a:srgbClr val="FF0000"/>
                </a:solidFill>
              </a:rPr>
              <a:t>) and  </a:t>
            </a:r>
            <a:r>
              <a:rPr lang="en-IN" sz="1800" dirty="0" err="1">
                <a:solidFill>
                  <a:srgbClr val="FF0000"/>
                </a:solidFill>
              </a:rPr>
              <a:t>Onepass</a:t>
            </a:r>
            <a:r>
              <a:rPr lang="en-IN" sz="1800" dirty="0">
                <a:solidFill>
                  <a:srgbClr val="FF0000"/>
                </a:solidFill>
              </a:rPr>
              <a:t> exterior penalty (constraint handling)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Optimization via Simulated Annealing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Sequential updates for 200 total evaluations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71676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9F9BCE-17DE-40F5-CC7F-1F840840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Plots obtained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09F805A1-AF5F-49F1-0F38-B7182F70EC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374963335"/>
              </p:ext>
            </p:extLst>
          </p:nvPr>
        </p:nvGraphicFramePr>
        <p:xfrm>
          <a:off x="884265" y="2384803"/>
          <a:ext cx="1048443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7405">
                  <a:extLst>
                    <a:ext uri="{9D8B030D-6E8A-4147-A177-3AD203B41FA5}">
                      <a16:colId xmlns:a16="http://schemas.microsoft.com/office/drawing/2014/main" xmlns="" val="33599676"/>
                    </a:ext>
                  </a:extLst>
                </a:gridCol>
                <a:gridCol w="1747405">
                  <a:extLst>
                    <a:ext uri="{9D8B030D-6E8A-4147-A177-3AD203B41FA5}">
                      <a16:colId xmlns:a16="http://schemas.microsoft.com/office/drawing/2014/main" xmlns="" val="3454323969"/>
                    </a:ext>
                  </a:extLst>
                </a:gridCol>
                <a:gridCol w="1747405">
                  <a:extLst>
                    <a:ext uri="{9D8B030D-6E8A-4147-A177-3AD203B41FA5}">
                      <a16:colId xmlns:a16="http://schemas.microsoft.com/office/drawing/2014/main" xmlns="" val="1839425452"/>
                    </a:ext>
                  </a:extLst>
                </a:gridCol>
                <a:gridCol w="1747405">
                  <a:extLst>
                    <a:ext uri="{9D8B030D-6E8A-4147-A177-3AD203B41FA5}">
                      <a16:colId xmlns:a16="http://schemas.microsoft.com/office/drawing/2014/main" xmlns="" val="4084091009"/>
                    </a:ext>
                  </a:extLst>
                </a:gridCol>
                <a:gridCol w="1747405">
                  <a:extLst>
                    <a:ext uri="{9D8B030D-6E8A-4147-A177-3AD203B41FA5}">
                      <a16:colId xmlns:a16="http://schemas.microsoft.com/office/drawing/2014/main" xmlns="" val="1493859172"/>
                    </a:ext>
                  </a:extLst>
                </a:gridCol>
                <a:gridCol w="1747405">
                  <a:extLst>
                    <a:ext uri="{9D8B030D-6E8A-4147-A177-3AD203B41FA5}">
                      <a16:colId xmlns:a16="http://schemas.microsoft.com/office/drawing/2014/main" xmlns="" val="4215270838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GP+EI </a:t>
                      </a:r>
                      <a:r>
                        <a:rPr lang="en-IN" dirty="0" err="1"/>
                        <a:t>const</a:t>
                      </a:r>
                      <a:endParaRPr lang="en-IN" dirty="0"/>
                    </a:p>
                    <a:p>
                      <a:pPr algn="ctr"/>
                      <a:r>
                        <a:rPr lang="en-IN" dirty="0"/>
                        <a:t>(IGD - </a:t>
                      </a:r>
                      <a:r>
                        <a:rPr lang="en-IN" dirty="0" err="1"/>
                        <a:t>avg</a:t>
                      </a:r>
                      <a:r>
                        <a:rPr lang="en-IN" dirty="0"/>
                        <a:t> over 10 runs)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GP+PI </a:t>
                      </a:r>
                      <a:r>
                        <a:rPr lang="en-IN" dirty="0" err="1"/>
                        <a:t>const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GP+PI+One</a:t>
                      </a:r>
                      <a:r>
                        <a:rPr lang="en-IN" dirty="0"/>
                        <a:t> 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GP+ EI+ external penalty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GP+RBF+Decision</a:t>
                      </a:r>
                      <a:r>
                        <a:rPr lang="en-IN" dirty="0"/>
                        <a:t> Tree + external penalty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420987406"/>
                  </a:ext>
                </a:extLst>
              </a:tr>
              <a:tr h="58340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Random weight 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0.04406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0.04396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0.04097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0.04346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0.07341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21497601"/>
                  </a:ext>
                </a:extLst>
              </a:tr>
              <a:tr h="58340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Naïve Adaptive sampling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0.11054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0.08823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0.07297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0.10015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0.07518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51934029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Improved Adaptive Sampling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0.05339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0.05314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0.07926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995489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61142" y="1901372"/>
            <a:ext cx="4317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Inverted generational distance </a:t>
            </a:r>
            <a:r>
              <a:rPr lang="en-US" b="1" dirty="0" smtClean="0"/>
              <a:t>comparison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485115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xmlns="" id="{4D18E020-5492-9460-2B60-14C65DCE6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16135" y="140052"/>
            <a:ext cx="3854245" cy="289068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xmlns="" id="{3A18CD2B-8076-519E-D645-A8F8D0634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16135" y="3173362"/>
            <a:ext cx="3854245" cy="289068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xmlns="" id="{9CAAE8CB-33DD-A185-C3EA-FC469D4BAE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837903" y="140052"/>
            <a:ext cx="3854245" cy="289068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xmlns="" id="{B7BAF1DF-8AE8-5AC9-9183-D5DC535345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732264" y="3173362"/>
            <a:ext cx="3854245" cy="289068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4C54316-5CF8-35F0-928A-BF68F2978683}"/>
              </a:ext>
            </a:extLst>
          </p:cNvPr>
          <p:cNvSpPr txBox="1"/>
          <p:nvPr/>
        </p:nvSpPr>
        <p:spPr>
          <a:xfrm>
            <a:off x="226142" y="140072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949BA131-E731-5262-A24D-42C751B18E8A}"/>
              </a:ext>
            </a:extLst>
          </p:cNvPr>
          <p:cNvSpPr txBox="1"/>
          <p:nvPr/>
        </p:nvSpPr>
        <p:spPr>
          <a:xfrm>
            <a:off x="226141" y="432582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6240984-5B71-86A6-8DE3-4C7013D43763}"/>
              </a:ext>
            </a:extLst>
          </p:cNvPr>
          <p:cNvSpPr txBox="1"/>
          <p:nvPr/>
        </p:nvSpPr>
        <p:spPr>
          <a:xfrm>
            <a:off x="2743257" y="6022006"/>
            <a:ext cx="586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0802510-7D1D-E04C-7A85-627AA50B80E9}"/>
              </a:ext>
            </a:extLst>
          </p:cNvPr>
          <p:cNvSpPr txBox="1"/>
          <p:nvPr/>
        </p:nvSpPr>
        <p:spPr>
          <a:xfrm>
            <a:off x="7366357" y="5997737"/>
            <a:ext cx="70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worst</a:t>
            </a:r>
          </a:p>
        </p:txBody>
      </p:sp>
    </p:spTree>
    <p:extLst>
      <p:ext uri="{BB962C8B-B14F-4D97-AF65-F5344CB8AC3E}">
        <p14:creationId xmlns:p14="http://schemas.microsoft.com/office/powerpoint/2010/main" xmlns="" val="125224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28C51D-8729-C5F6-80E5-7A3326FF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F089D75-EF2F-A5F3-320D-6FCEA59F21DE}"/>
              </a:ext>
            </a:extLst>
          </p:cNvPr>
          <p:cNvSpPr txBox="1"/>
          <p:nvPr/>
        </p:nvSpPr>
        <p:spPr>
          <a:xfrm>
            <a:off x="226142" y="140072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34FA415F-1550-041C-12EB-C8B01BB609D0}"/>
              </a:ext>
            </a:extLst>
          </p:cNvPr>
          <p:cNvSpPr txBox="1"/>
          <p:nvPr/>
        </p:nvSpPr>
        <p:spPr>
          <a:xfrm>
            <a:off x="226141" y="4325824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5BF68A2D-DCA2-539B-3530-6FCD3B3AB0A9}"/>
              </a:ext>
            </a:extLst>
          </p:cNvPr>
          <p:cNvSpPr txBox="1"/>
          <p:nvPr/>
        </p:nvSpPr>
        <p:spPr>
          <a:xfrm>
            <a:off x="2743257" y="6022006"/>
            <a:ext cx="586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CADEAB0-88BD-3B25-8217-26E380AA3B6A}"/>
              </a:ext>
            </a:extLst>
          </p:cNvPr>
          <p:cNvSpPr txBox="1"/>
          <p:nvPr/>
        </p:nvSpPr>
        <p:spPr>
          <a:xfrm>
            <a:off x="7366357" y="5997737"/>
            <a:ext cx="70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worst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D3332610-503D-F6BF-70E1-5C3D1293B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256128" y="159716"/>
            <a:ext cx="3801807" cy="285135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66C953E0-118A-471A-6D97-2FA7E997DE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56128" y="3269478"/>
            <a:ext cx="3801807" cy="285135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xmlns="" id="{653CE918-BDE4-6443-1ADA-36EF1A14EA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63148" y="159716"/>
            <a:ext cx="3801807" cy="285135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xmlns="" id="{0EF80DEC-CC51-86C5-9AC8-DF7D5F6D43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63147" y="3146382"/>
            <a:ext cx="3801807" cy="285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66646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3A5C54C1-1810-E410-9FD7-8A6122FD4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28485" y="1310763"/>
            <a:ext cx="4649839" cy="348737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AFF1F320-34B4-8A11-6169-CC3097AC99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312310" y="1310763"/>
            <a:ext cx="4649839" cy="34873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1428C62-DD2A-4401-CA70-79A3FE02508F}"/>
              </a:ext>
            </a:extLst>
          </p:cNvPr>
          <p:cNvSpPr txBox="1"/>
          <p:nvPr/>
        </p:nvSpPr>
        <p:spPr>
          <a:xfrm>
            <a:off x="279057" y="2988699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ED3D30C-3F71-A033-DEC4-F81786C011ED}"/>
              </a:ext>
            </a:extLst>
          </p:cNvPr>
          <p:cNvSpPr txBox="1"/>
          <p:nvPr/>
        </p:nvSpPr>
        <p:spPr>
          <a:xfrm>
            <a:off x="2664599" y="4798142"/>
            <a:ext cx="586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0DDFB26-36D2-AF7C-B351-CAB7B65D9F72}"/>
              </a:ext>
            </a:extLst>
          </p:cNvPr>
          <p:cNvSpPr txBox="1"/>
          <p:nvPr/>
        </p:nvSpPr>
        <p:spPr>
          <a:xfrm>
            <a:off x="8355287" y="4798142"/>
            <a:ext cx="70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worst</a:t>
            </a:r>
          </a:p>
        </p:txBody>
      </p:sp>
    </p:spTree>
    <p:extLst>
      <p:ext uri="{BB962C8B-B14F-4D97-AF65-F5344CB8AC3E}">
        <p14:creationId xmlns:p14="http://schemas.microsoft.com/office/powerpoint/2010/main" xmlns="" val="3345230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491F09-AAAA-78EB-D950-379CAFB01BFB}"/>
              </a:ext>
            </a:extLst>
          </p:cNvPr>
          <p:cNvSpPr txBox="1"/>
          <p:nvPr/>
        </p:nvSpPr>
        <p:spPr>
          <a:xfrm>
            <a:off x="4152232" y="2780071"/>
            <a:ext cx="27723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Aptos" panose="020B0004020202020204" pitchFamily="34" charset="0"/>
              </a:rPr>
              <a:t>THANK YOU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0579715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982</TotalTime>
  <Words>518</Words>
  <Application>Microsoft Office PowerPoint</Application>
  <PresentationFormat>Custom</PresentationFormat>
  <Paragraphs>98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Retrospect</vt:lpstr>
      <vt:lpstr>Multi-objective optimization for crashworthiness design of vehicles</vt:lpstr>
      <vt:lpstr>Optimization problem formulation</vt:lpstr>
      <vt:lpstr>Proposed combination’s</vt:lpstr>
      <vt:lpstr>General procedure </vt:lpstr>
      <vt:lpstr>Weight sampling</vt:lpstr>
      <vt:lpstr>Adaptive weight Sampling- (Angle-Based Gap Detection)</vt:lpstr>
      <vt:lpstr>Deriving Weight w From Desired angle</vt:lpstr>
      <vt:lpstr>Limitations and improvements </vt:lpstr>
      <vt:lpstr>GP Model + Constrained Expected Improvement (Algo-1)</vt:lpstr>
      <vt:lpstr>Slide 10</vt:lpstr>
      <vt:lpstr>GP Model + Constrained Probability of Improvement</vt:lpstr>
      <vt:lpstr>GP Model + Probability of Improvement + One pass Penalty</vt:lpstr>
      <vt:lpstr>GP Model + Expected Improvement + General Exterior Penalty</vt:lpstr>
      <vt:lpstr>(GP Model + RBF + Decision Tree) + Constrained Expected Improvement</vt:lpstr>
      <vt:lpstr>Results and Plots obtained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Multi-objective optimization for crashworthiness design of vehicles</dc:title>
  <dc:creator>Gnapika Ranga</dc:creator>
  <cp:lastModifiedBy>HP</cp:lastModifiedBy>
  <cp:revision>6</cp:revision>
  <dcterms:created xsi:type="dcterms:W3CDTF">2025-11-28T04:26:29Z</dcterms:created>
  <dcterms:modified xsi:type="dcterms:W3CDTF">2025-11-29T15:04:15Z</dcterms:modified>
</cp:coreProperties>
</file>